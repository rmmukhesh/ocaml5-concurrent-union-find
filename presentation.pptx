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Merriweather"/>
      <p:regular r:id="rId22"/>
      <p:bold r:id="rId23"/>
      <p:italic r:id="rId24"/>
      <p:boldItalic r:id="rId25"/>
    </p:embeddedFont>
    <p:embeddedFont>
      <p:font typeface="DM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5098E6B-18AD-4DA8-B30D-DE36F11A5726}">
  <a:tblStyle styleId="{B5098E6B-18AD-4DA8-B30D-DE36F11A572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Merriweather-regular.fntdata"/><Relationship Id="rId21" Type="http://schemas.openxmlformats.org/officeDocument/2006/relationships/slide" Target="slides/slide15.xml"/><Relationship Id="rId24" Type="http://schemas.openxmlformats.org/officeDocument/2006/relationships/font" Target="fonts/Merriweather-italic.fntdata"/><Relationship Id="rId23" Type="http://schemas.openxmlformats.org/officeDocument/2006/relationships/font" Target="fonts/Merriweather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DMSans-regular.fntdata"/><Relationship Id="rId25" Type="http://schemas.openxmlformats.org/officeDocument/2006/relationships/font" Target="fonts/Merriweather-boldItalic.fntdata"/><Relationship Id="rId28" Type="http://schemas.openxmlformats.org/officeDocument/2006/relationships/font" Target="fonts/DMSans-italic.fntdata"/><Relationship Id="rId27" Type="http://schemas.openxmlformats.org/officeDocument/2006/relationships/font" Target="fonts/DMSan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DMSa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6d8a50985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e6d8a50985_0_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6d8a50985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e6d8a50985_0_1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6d8a509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e6d8a5098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e6d8a50985_0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e6d8a50985_0_3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6d8a50985_0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e6d8a50985_0_4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6d8a50985_0_5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e6d8a50985_0_5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6d8a50985_0_6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e6d8a50985_0_6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e6d8a50985_0_7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e6d8a50985_0_7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e6d8a50985_0_8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e6d8a50985_0_8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e6d8a50985_0_8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e6d8a50985_0_8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e6d8a50985_0_9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e6d8a50985_0_9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e6d8a50985_0_10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e6d8a50985_0_10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e6d8a50985_0_1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e6d8a50985_0_11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p14:dur="200">
        <p:fade/>
      </p:transition>
    </mc:Choice>
    <mc:Fallback>
      <p:transition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2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5.png"/><Relationship Id="rId6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5.png"/><Relationship Id="rId6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5.png"/><Relationship Id="rId6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5.png"/><Relationship Id="rId6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950481" y="1745158"/>
            <a:ext cx="8291100" cy="17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Concurrent Union-Find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 in OCaml 5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147887" y="3444180"/>
            <a:ext cx="7896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Research Mini-Project Implementation using CAS Atomics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147887" y="4293691"/>
            <a:ext cx="7896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Yaswanth Srinivas | Prince | Mukhesh RM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2147887" y="4703266"/>
            <a:ext cx="7896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April 30, 2026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952500" y="3119437"/>
            <a:ext cx="10668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Parallel Connectivity: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Implement lock-free Disjoint Set Union (DSU) leveraging OCaml 5 Multicore features.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52500" y="3529012"/>
            <a:ext cx="10668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Performance Comparison: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Evaluate CAS-based (Compare-and-Set) vs. Lock-based (Mutex) synchronization.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52500" y="3938587"/>
            <a:ext cx="10668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Workload Analysis: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Investigate speedup across different graph densities and interleaved operation mixes.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52500" y="4348162"/>
            <a:ext cx="10668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Correctness Validation: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Use randomized stress tests and linearizability checks to ensure data integrity.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62000" y="5715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Project Objectives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194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5290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9385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348162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952500" y="3048000"/>
            <a:ext cx="10668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Sequential Baseline: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Fast, relies on mutating parent pointers (path compression) and union-by-rank.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952500" y="3457575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Race Condition: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In a concurrent setting, if multiple domains mutate parent arrays simultaneously during find or union, components can become disconnected or form cycles.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952500" y="4152900"/>
            <a:ext cx="1066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Our Approach: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Implement and evaluate 4 variants: Sequential, Global Mutex, Node-Lock, and Lock-Free CAS (Compare-and-Set).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Concurrency Challenge in DSU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4800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4575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152900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" name="Google Shape;1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2" name="Google Shape;122;p16"/>
          <p:cNvGraphicFramePr/>
          <p:nvPr/>
        </p:nvGraphicFramePr>
        <p:xfrm>
          <a:off x="571500" y="24669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{B5098E6B-18AD-4DA8-B30D-DE36F11A5726}</a:tableStyleId>
              </a:tblPr>
              <a:tblGrid>
                <a:gridCol w="2626075"/>
                <a:gridCol w="3122425"/>
                <a:gridCol w="1921525"/>
                <a:gridCol w="3379000"/>
              </a:tblGrid>
              <a:tr h="56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Variant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Synchronisation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Blocking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Path Compression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</a:tr>
              <a:tr h="56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Sequential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N/A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Full Two-Pass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Mutex (Global)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 Global Lock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Yes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Path Halving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Node-Lock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Lock-per-Node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Yes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Path Halving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CAS (Atomic)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Atomic CAS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Path Halving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3" name="Google Shape;123;p16"/>
          <p:cNvSpPr/>
          <p:nvPr/>
        </p:nvSpPr>
        <p:spPr>
          <a:xfrm>
            <a:off x="571500" y="3567112"/>
            <a:ext cx="2626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3197572" y="3567112"/>
            <a:ext cx="3122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6319986" y="3567112"/>
            <a:ext cx="1921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8241506" y="3567112"/>
            <a:ext cx="33789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571500" y="4129087"/>
            <a:ext cx="2626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3197572" y="4129087"/>
            <a:ext cx="3122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6319986" y="4129087"/>
            <a:ext cx="1921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8241506" y="4129087"/>
            <a:ext cx="33789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571500" y="4691062"/>
            <a:ext cx="2626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3197572" y="4691062"/>
            <a:ext cx="3122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6319986" y="4691062"/>
            <a:ext cx="1921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8241506" y="4691062"/>
            <a:ext cx="33789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571500" y="5253037"/>
            <a:ext cx="2626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3197572" y="5253037"/>
            <a:ext cx="3122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6319986" y="5253037"/>
            <a:ext cx="1921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8241506" y="5253037"/>
            <a:ext cx="33789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762000" y="5715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DSU Implementation Variants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571500" y="2747463"/>
            <a:ext cx="44805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Single Lock Mechanism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571500" y="3038475"/>
            <a:ext cx="42672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simplest concurrent approach: wrap every operation in a global mutex. This serializes all work.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952500" y="3990975"/>
            <a:ext cx="3886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Ensures atomicity for the entire traversal.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952500" y="5131088"/>
            <a:ext cx="3886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High contention: No parallelism.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762000" y="5715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Variant 1: Global Mutex</a:t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2" name="Google Shape;15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9909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43126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146575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952500" y="4408159"/>
            <a:ext cx="4762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with_lock uses Fun.protect to ensure the mutex</a:t>
            </a:r>
            <a:endParaRPr sz="1500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is unlocked even on failure</a:t>
            </a:r>
            <a:endParaRPr sz="1500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56" name="Google Shape;156;p17" title="mutex_union_find-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27950" y="3361053"/>
            <a:ext cx="5422949" cy="79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762000" y="5715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Variant 1: Global </a:t>
            </a: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Mutex (Find &amp; Union)</a:t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18" title="mutex_union_find-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900" y="2421925"/>
            <a:ext cx="5155699" cy="310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 title="mutex_union_find-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88450" y="2040775"/>
            <a:ext cx="5330651" cy="406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571500" y="2728137"/>
            <a:ext cx="44805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4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Fine-Grained Strategy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571500" y="3033712"/>
            <a:ext cx="4267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Instead of one lock, we have an array of locks, one for each node.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952500" y="3729037"/>
            <a:ext cx="3886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Permits parallelism for disjoint components.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952500" y="4548187"/>
            <a:ext cx="3886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High overhead: Multiple lock acquisitions per operation.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762000" y="5715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Variant 2: Node-Lock (Fin</a:t>
            </a:r>
            <a:r>
              <a:rPr b="1" lang="en-US" sz="315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d- Path Halving</a:t>
            </a: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)</a:t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7" name="Google Shape;17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7290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1386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9" title="node_lock_union_find-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24625" y="2191200"/>
            <a:ext cx="5963800" cy="3306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548187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9"/>
          <p:cNvSpPr txBox="1"/>
          <p:nvPr/>
        </p:nvSpPr>
        <p:spPr>
          <a:xfrm>
            <a:off x="854175" y="4039450"/>
            <a:ext cx="3569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Path Halving used during traversal.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7031000" y="2601325"/>
            <a:ext cx="5498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4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Lock ordering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10051200" y="948600"/>
            <a:ext cx="6400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762000" y="571500"/>
            <a:ext cx="114015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15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Variant 2: Node-Lock (Union)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150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7302800" y="2817325"/>
            <a:ext cx="45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Problem: </a:t>
            </a:r>
            <a: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Cyclic dependencies between roots can cause deadlocks.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7302800" y="3464350"/>
            <a:ext cx="45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Solution</a:t>
            </a:r>
            <a:r>
              <a:rPr b="1"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To prevent it, we sort the roots and lock the smaller index first.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image.png" id="193" name="Google Shape;19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31000" y="29408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31000" y="35562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 title="node_lock_union_find-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7700" y="1234225"/>
            <a:ext cx="6247375" cy="5446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571500" y="2952350"/>
            <a:ext cx="44805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4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Lock-free implementation</a:t>
            </a:r>
            <a:endParaRPr b="1" sz="1404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571500" y="3238500"/>
            <a:ext cx="4267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Uses Atomic.compare_and_set to perform single-pass path compression without blocking.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952500" y="3933825"/>
            <a:ext cx="38862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Failed CAS means another thread updated the parent; we continue traversal regardless.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762000" y="5715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Variant 3: CAS (</a:t>
            </a:r>
            <a:r>
              <a:rPr b="1" lang="en-US" sz="315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Find- Path Halving)</a:t>
            </a:r>
            <a:endParaRPr/>
          </a:p>
        </p:txBody>
      </p:sp>
      <p:sp>
        <p:nvSpPr>
          <p:cNvPr id="205" name="Google Shape;205;p21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6" name="Google Shape;20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9338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1" title="cas_union_find-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19700" y="1945250"/>
            <a:ext cx="6400799" cy="383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2" name="Google Shape;21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/>
        </p:nvSpPr>
        <p:spPr>
          <a:xfrm>
            <a:off x="7031000" y="2601325"/>
            <a:ext cx="5498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4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Optimistic Retry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10051200" y="948600"/>
            <a:ext cx="6400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762000" y="571500"/>
            <a:ext cx="114015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Variant 3: CAS (Union)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150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7302800" y="2817325"/>
            <a:ext cx="45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No blocking; failed CAS triggers a recursive attempt ().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8" name="Google Shape;218;p22"/>
          <p:cNvSpPr txBox="1"/>
          <p:nvPr/>
        </p:nvSpPr>
        <p:spPr>
          <a:xfrm>
            <a:off x="7302800" y="3464350"/>
            <a:ext cx="45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</a:t>
            </a:r>
            <a: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successful</a:t>
            </a:r>
            <a: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linkage CAS is the linearization point.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image.png" id="219" name="Google Shape;21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31000" y="29408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31000" y="35562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2" title="cas_union_find-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500" y="1261050"/>
            <a:ext cx="6283823" cy="5325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6" name="Google Shape;22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38275"/>
            <a:ext cx="11049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 txBox="1"/>
          <p:nvPr/>
        </p:nvSpPr>
        <p:spPr>
          <a:xfrm>
            <a:off x="571500" y="2451362"/>
            <a:ext cx="5600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Performance at low contention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571500" y="2700337"/>
            <a:ext cx="533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Benchmarking over 200k nodes and 1M interleaved operations.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952500" y="3386137"/>
            <a:ext cx="495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CAS achieves a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1.22x speedup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over sequential execution.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952500" y="4062412"/>
            <a:ext cx="4953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Peaks precisely at 4 OCaml domains.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952500" y="4471987"/>
            <a:ext cx="495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Coarse mutex performs progressively worse as domains increase.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762000" y="5715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Results: 20% Union Mix Workload</a:t>
            </a:r>
            <a:endParaRPr/>
          </a:p>
        </p:txBody>
      </p:sp>
      <p:sp>
        <p:nvSpPr>
          <p:cNvPr id="234" name="Google Shape;234;p23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5" name="Google Shape;23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3861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0624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4719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3" title="bench_trend_20_tim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66250" y="2146475"/>
            <a:ext cx="5017401" cy="332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3" name="Google Shape;24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38275"/>
            <a:ext cx="11049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4"/>
          <p:cNvSpPr txBox="1"/>
          <p:nvPr/>
        </p:nvSpPr>
        <p:spPr>
          <a:xfrm>
            <a:off x="6286500" y="2765750"/>
            <a:ext cx="5600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Strong Scaling for Balanced Workloads</a:t>
            </a:r>
            <a:endParaRPr/>
          </a:p>
        </p:txBody>
      </p:sp>
      <p:sp>
        <p:nvSpPr>
          <p:cNvPr id="246" name="Google Shape;246;p24"/>
          <p:cNvSpPr txBox="1"/>
          <p:nvPr/>
        </p:nvSpPr>
        <p:spPr>
          <a:xfrm>
            <a:off x="6286500" y="3038475"/>
            <a:ext cx="533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Higher proportion of unions emphasizes the benefits of lock-free parallelism.</a:t>
            </a:r>
            <a:endParaRPr/>
          </a:p>
        </p:txBody>
      </p:sp>
      <p:sp>
        <p:nvSpPr>
          <p:cNvPr id="247" name="Google Shape;247;p24"/>
          <p:cNvSpPr txBox="1"/>
          <p:nvPr/>
        </p:nvSpPr>
        <p:spPr>
          <a:xfrm>
            <a:off x="6667500" y="3724275"/>
            <a:ext cx="4953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CAS achieves a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1.76x speedup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248" name="Google Shape;248;p24"/>
          <p:cNvSpPr txBox="1"/>
          <p:nvPr/>
        </p:nvSpPr>
        <p:spPr>
          <a:xfrm>
            <a:off x="6667500" y="4133850"/>
            <a:ext cx="495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Node-lock shows scaling but suffers from high constant overhead.</a:t>
            </a:r>
            <a:endParaRPr/>
          </a:p>
        </p:txBody>
      </p:sp>
      <p:sp>
        <p:nvSpPr>
          <p:cNvPr id="249" name="Google Shape;249;p24"/>
          <p:cNvSpPr txBox="1"/>
          <p:nvPr/>
        </p:nvSpPr>
        <p:spPr>
          <a:xfrm>
            <a:off x="762000" y="5715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Results: 50% Union Mix Workload</a:t>
            </a:r>
            <a:endParaRPr/>
          </a:p>
        </p:txBody>
      </p:sp>
      <p:sp>
        <p:nvSpPr>
          <p:cNvPr id="250" name="Google Shape;250;p24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1" name="Google Shape;25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37242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413385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4" title="bench_trend_50_tim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2000" y="2177750"/>
            <a:ext cx="4953000" cy="329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8" name="Google Shape;25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38275"/>
            <a:ext cx="11049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5"/>
          <p:cNvSpPr txBox="1"/>
          <p:nvPr/>
        </p:nvSpPr>
        <p:spPr>
          <a:xfrm>
            <a:off x="571500" y="2492325"/>
            <a:ext cx="5600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Time vs Domains (CAS Only)</a:t>
            </a:r>
            <a:endParaRPr/>
          </a:p>
        </p:txBody>
      </p:sp>
      <p:sp>
        <p:nvSpPr>
          <p:cNvPr id="261" name="Google Shape;261;p25"/>
          <p:cNvSpPr txBox="1"/>
          <p:nvPr/>
        </p:nvSpPr>
        <p:spPr>
          <a:xfrm>
            <a:off x="571500" y="2771775"/>
            <a:ext cx="533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We tested CAS against 3 distinct graph structure profiles to identify structural bottlenecks.</a:t>
            </a:r>
            <a:endParaRPr/>
          </a:p>
        </p:txBody>
      </p:sp>
      <p:sp>
        <p:nvSpPr>
          <p:cNvPr id="262" name="Google Shape;262;p25"/>
          <p:cNvSpPr txBox="1"/>
          <p:nvPr/>
        </p:nvSpPr>
        <p:spPr>
          <a:xfrm>
            <a:off x="952500" y="3457575"/>
            <a:ext cx="495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Different topologies create varying levels of contention on root nodes.</a:t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952500" y="4133850"/>
            <a:ext cx="49530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CAS failure rates remained below 0.1% across all profiles, indicating atomic memory traffic is the actual limiting factor.</a:t>
            </a:r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762000" y="5715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Analysis: Graph Structure Sensitivity</a:t>
            </a:r>
            <a:endParaRPr/>
          </a:p>
        </p:txBody>
      </p:sp>
      <p:sp>
        <p:nvSpPr>
          <p:cNvPr id="265" name="Google Shape;265;p25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6" name="Google Shape;26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4575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13385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5" title="bench_graph_tim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79675" y="2171700"/>
            <a:ext cx="4953000" cy="3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3" name="Google Shape;27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38275"/>
            <a:ext cx="11049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6"/>
          <p:cNvSpPr txBox="1"/>
          <p:nvPr/>
        </p:nvSpPr>
        <p:spPr>
          <a:xfrm>
            <a:off x="6286500" y="2752325"/>
            <a:ext cx="5600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Impact of Edge Density</a:t>
            </a:r>
            <a:endParaRPr/>
          </a:p>
        </p:txBody>
      </p:sp>
      <p:sp>
        <p:nvSpPr>
          <p:cNvPr id="276" name="Google Shape;276;p26"/>
          <p:cNvSpPr txBox="1"/>
          <p:nvPr/>
        </p:nvSpPr>
        <p:spPr>
          <a:xfrm>
            <a:off x="6286500" y="3038475"/>
            <a:ext cx="533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Testing 5 different connectivity profiles mapping dense vs sparse connections.</a:t>
            </a:r>
            <a:endParaRPr/>
          </a:p>
        </p:txBody>
      </p:sp>
      <p:sp>
        <p:nvSpPr>
          <p:cNvPr id="277" name="Google Shape;277;p26"/>
          <p:cNvSpPr txBox="1"/>
          <p:nvPr/>
        </p:nvSpPr>
        <p:spPr>
          <a:xfrm>
            <a:off x="6667500" y="3724275"/>
            <a:ext cx="495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Highly connected graphs require deeper path traversals.</a:t>
            </a:r>
            <a:endParaRPr/>
          </a:p>
        </p:txBody>
      </p:sp>
      <p:sp>
        <p:nvSpPr>
          <p:cNvPr id="278" name="Google Shape;278;p26"/>
          <p:cNvSpPr txBox="1"/>
          <p:nvPr/>
        </p:nvSpPr>
        <p:spPr>
          <a:xfrm>
            <a:off x="6667500" y="4410075"/>
            <a:ext cx="495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Path halving ensures traversal times stay amortized even as graph density grows.</a:t>
            </a:r>
            <a:endParaRPr/>
          </a:p>
        </p:txBody>
      </p:sp>
      <p:sp>
        <p:nvSpPr>
          <p:cNvPr id="279" name="Google Shape;279;p26"/>
          <p:cNvSpPr txBox="1"/>
          <p:nvPr/>
        </p:nvSpPr>
        <p:spPr>
          <a:xfrm>
            <a:off x="762000" y="5715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Analysis: Connectivity Profiles</a:t>
            </a:r>
            <a:endParaRPr/>
          </a:p>
        </p:txBody>
      </p:sp>
      <p:sp>
        <p:nvSpPr>
          <p:cNvPr id="280" name="Google Shape;280;p26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1" name="Google Shape;281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37242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44100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6" title="bench_connectivity_tim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2000" y="2173300"/>
            <a:ext cx="4953000" cy="328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8" name="Google Shape;28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7"/>
          <p:cNvSpPr txBox="1"/>
          <p:nvPr/>
        </p:nvSpPr>
        <p:spPr>
          <a:xfrm>
            <a:off x="295275" y="1264075"/>
            <a:ext cx="11601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Conclusions</a:t>
            </a:r>
            <a:endParaRPr/>
          </a:p>
        </p:txBody>
      </p:sp>
      <p:sp>
        <p:nvSpPr>
          <p:cNvPr id="290" name="Google Shape;290;p27"/>
          <p:cNvSpPr/>
          <p:nvPr/>
        </p:nvSpPr>
        <p:spPr>
          <a:xfrm>
            <a:off x="5619750" y="4476750"/>
            <a:ext cx="9525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7"/>
          <p:cNvSpPr txBox="1"/>
          <p:nvPr/>
        </p:nvSpPr>
        <p:spPr>
          <a:xfrm>
            <a:off x="295275" y="4895850"/>
            <a:ext cx="11601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Questions?</a:t>
            </a:r>
            <a:endParaRPr/>
          </a:p>
        </p:txBody>
      </p:sp>
      <p:sp>
        <p:nvSpPr>
          <p:cNvPr id="292" name="Google Shape;292;p27"/>
          <p:cNvSpPr txBox="1"/>
          <p:nvPr/>
        </p:nvSpPr>
        <p:spPr>
          <a:xfrm>
            <a:off x="2667000" y="2311175"/>
            <a:ext cx="723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Lock-free CAS outperforms lock-based alternatives on OCaml 5 for DSU.</a:t>
            </a:r>
            <a:endParaRPr/>
          </a:p>
        </p:txBody>
      </p:sp>
      <p:sp>
        <p:nvSpPr>
          <p:cNvPr id="293" name="Google Shape;293;p27"/>
          <p:cNvSpPr txBox="1"/>
          <p:nvPr/>
        </p:nvSpPr>
        <p:spPr>
          <a:xfrm>
            <a:off x="2667000" y="2719388"/>
            <a:ext cx="7239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Performance bottleneck beyond 4 domains is </a:t>
            </a:r>
            <a:r>
              <a:rPr b="1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atomic memory traffic</a:t>
            </a:r>
            <a:r>
              <a:rPr b="0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and OS scheduling, not CAS retry storms.</a:t>
            </a:r>
            <a:endParaRPr/>
          </a:p>
        </p:txBody>
      </p:sp>
      <p:sp>
        <p:nvSpPr>
          <p:cNvPr id="294" name="Google Shape;294;p27"/>
          <p:cNvSpPr txBox="1"/>
          <p:nvPr/>
        </p:nvSpPr>
        <p:spPr>
          <a:xfrm>
            <a:off x="2667000" y="3436375"/>
            <a:ext cx="72390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The coarse global mutex completely eliminates scaling. The fine-grained per-node lock scales better relatively but suffers from heavy constant overhead, resulting in worse absolute times.</a:t>
            </a:r>
            <a:endParaRPr/>
          </a:p>
        </p:txBody>
      </p:sp>
      <p:pic>
        <p:nvPicPr>
          <p:cNvPr descr="image.png" id="295" name="Google Shape;29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232665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277400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3436375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