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3" name="Shape 11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9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431800" indent="-406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431800" indent="762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431800" indent="5588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431800" indent="1041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431800" indent="14986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8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228600" indent="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228600" indent="4572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228600" indent="9144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228600" indent="1371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228600" indent="18288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6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 indent="-406400">
              <a:spcBef>
                <a:spcPts val="500"/>
              </a:spcBef>
              <a:buSzPts val="2800"/>
              <a:defRPr sz="2800"/>
            </a:lvl1pPr>
            <a:lvl2pPr marL="977900" indent="-444500">
              <a:spcBef>
                <a:spcPts val="500"/>
              </a:spcBef>
              <a:buSzPts val="2800"/>
              <a:defRPr sz="2800"/>
            </a:lvl2pPr>
            <a:lvl3pPr marL="1513839" indent="-497839">
              <a:spcBef>
                <a:spcPts val="500"/>
              </a:spcBef>
              <a:buSzPts val="2800"/>
              <a:defRPr sz="2800"/>
            </a:lvl3pPr>
            <a:lvl4pPr marL="2019300" indent="-533400">
              <a:spcBef>
                <a:spcPts val="500"/>
              </a:spcBef>
              <a:buSzPts val="2800"/>
              <a:defRPr sz="2800"/>
            </a:lvl4pPr>
            <a:lvl5pPr marL="2476500" indent="-533400">
              <a:spcBef>
                <a:spcPts val="500"/>
              </a:spcBef>
              <a:buSzPts val="2800"/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7" name="Google Shape;36;p6"/>
          <p:cNvSpPr txBox="1"/>
          <p:nvPr>
            <p:ph type="body" sz="half" idx="2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/>
          <a:p>
            <a:pPr indent="-406400">
              <a:spcBef>
                <a:spcPts val="500"/>
              </a:spcBef>
              <a:buSzPts val="2800"/>
              <a:defRPr sz="2800"/>
            </a:pP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6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228600" indent="0">
              <a:spcBef>
                <a:spcPts val="400"/>
              </a:spcBef>
              <a:buClrTx/>
              <a:buSzTx/>
              <a:buFontTx/>
              <a:buNone/>
              <a:defRPr b="1" sz="2400"/>
            </a:lvl1pPr>
            <a:lvl2pPr marL="228600" indent="457200">
              <a:spcBef>
                <a:spcPts val="400"/>
              </a:spcBef>
              <a:buClrTx/>
              <a:buSzTx/>
              <a:buFontTx/>
              <a:buNone/>
              <a:defRPr b="1" sz="2400"/>
            </a:lvl2pPr>
            <a:lvl3pPr marL="228600" indent="914400">
              <a:spcBef>
                <a:spcPts val="400"/>
              </a:spcBef>
              <a:buClrTx/>
              <a:buSzTx/>
              <a:buFontTx/>
              <a:buNone/>
              <a:defRPr b="1" sz="2400"/>
            </a:lvl3pPr>
            <a:lvl4pPr marL="228600" indent="1371600">
              <a:spcBef>
                <a:spcPts val="400"/>
              </a:spcBef>
              <a:buClrTx/>
              <a:buSzTx/>
              <a:buFontTx/>
              <a:buNone/>
              <a:defRPr b="1" sz="2400"/>
            </a:lvl4pPr>
            <a:lvl5pPr marL="228600" indent="1828800">
              <a:spcBef>
                <a:spcPts val="400"/>
              </a:spcBef>
              <a:buClrTx/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Google Shape;43;p7"/>
          <p:cNvSpPr txBox="1"/>
          <p:nvPr>
            <p:ph type="body" sz="quarter" idx="2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/>
          <a:p>
            <a:pPr indent="-381000">
              <a:spcBef>
                <a:spcPts val="400"/>
              </a:spcBef>
              <a:buSzPts val="2400"/>
              <a:defRPr sz="2400"/>
            </a:pPr>
          </a:p>
        </p:txBody>
      </p:sp>
      <p:sp>
        <p:nvSpPr>
          <p:cNvPr id="58" name="Google Shape;44;p7"/>
          <p:cNvSpPr txBox="1"/>
          <p:nvPr>
            <p:ph type="body" sz="quarter" idx="22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228600" indent="0">
              <a:spcBef>
                <a:spcPts val="400"/>
              </a:spcBef>
              <a:buClrTx/>
              <a:buSzTx/>
              <a:buFontTx/>
              <a:buNone/>
              <a:defRPr b="1" sz="2400"/>
            </a:pPr>
          </a:p>
        </p:txBody>
      </p:sp>
      <p:sp>
        <p:nvSpPr>
          <p:cNvPr id="59" name="Google Shape;45;p7"/>
          <p:cNvSpPr txBox="1"/>
          <p:nvPr>
            <p:ph type="body" sz="quarter" idx="23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/>
          <a:p>
            <a:pPr indent="-381000">
              <a:spcBef>
                <a:spcPts val="400"/>
              </a:spcBef>
              <a:buSzPts val="2400"/>
              <a:defRPr sz="2400"/>
            </a:pPr>
          </a:p>
        </p:txBody>
      </p:sp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6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Google Shape;57;p9"/>
          <p:cNvSpPr txBox="1"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228600" indent="0">
              <a:spcBef>
                <a:spcPts val="200"/>
              </a:spcBef>
              <a:buClrTx/>
              <a:buSzTx/>
              <a:buFontTx/>
              <a:buNone/>
              <a:defRPr sz="1400"/>
            </a:pPr>
          </a:p>
        </p:txBody>
      </p:sp>
      <p:sp>
        <p:nvSpPr>
          <p:cNvPr id="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6" name="Google Shape;63;p10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7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228600" indent="0">
              <a:spcBef>
                <a:spcPts val="200"/>
              </a:spcBef>
              <a:buClrTx/>
              <a:buSzTx/>
              <a:buFontTx/>
              <a:buNone/>
              <a:defRPr sz="1400"/>
            </a:lvl1pPr>
            <a:lvl2pPr marL="228600" indent="457200">
              <a:spcBef>
                <a:spcPts val="200"/>
              </a:spcBef>
              <a:buClrTx/>
              <a:buSzTx/>
              <a:buFontTx/>
              <a:buNone/>
              <a:defRPr sz="1400"/>
            </a:lvl2pPr>
            <a:lvl3pPr marL="228600" indent="914400">
              <a:spcBef>
                <a:spcPts val="200"/>
              </a:spcBef>
              <a:buClrTx/>
              <a:buSzTx/>
              <a:buFontTx/>
              <a:buNone/>
              <a:defRPr sz="1400"/>
            </a:lvl3pPr>
            <a:lvl4pPr marL="228600" indent="1371600">
              <a:spcBef>
                <a:spcPts val="200"/>
              </a:spcBef>
              <a:buClrTx/>
              <a:buSzTx/>
              <a:buFontTx/>
              <a:buNone/>
              <a:defRPr sz="1400"/>
            </a:lvl4pPr>
            <a:lvl5pPr marL="228600" indent="1828800">
              <a:spcBef>
                <a:spcPts val="200"/>
              </a:spcBef>
              <a:buClrTx/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 rot="5400000">
            <a:off x="2309018" y="-251618"/>
            <a:ext cx="4525964" cy="8229601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itle Text"/>
          <p:cNvSpPr txBox="1"/>
          <p:nvPr>
            <p:ph type="title"/>
          </p:nvPr>
        </p:nvSpPr>
        <p:spPr>
          <a:xfrm rot="5400000">
            <a:off x="4732337" y="2171700"/>
            <a:ext cx="5851526" cy="20574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5" name="Body Level One…"/>
          <p:cNvSpPr txBox="1"/>
          <p:nvPr>
            <p:ph type="body" idx="1"/>
          </p:nvPr>
        </p:nvSpPr>
        <p:spPr>
          <a:xfrm rot="5400000">
            <a:off x="541337" y="190500"/>
            <a:ext cx="5851526" cy="6019800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216" y="6414780"/>
            <a:ext cx="258585" cy="248265"/>
          </a:xfrm>
          <a:prstGeom prst="rect">
            <a:avLst/>
          </a:prstGeom>
          <a:ln w="12700">
            <a:miter lim="400000"/>
          </a:ln>
        </p:spPr>
        <p:txBody>
          <a:bodyPr wrap="none" lIns="45699" tIns="45699" rIns="45699" bIns="4569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457200" marR="0" indent="-4318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972457" marR="0" indent="-464457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498600" marR="0" indent="-5080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20421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4993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9565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4137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8709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3281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3.png"/><Relationship Id="rId5" Type="http://schemas.openxmlformats.org/officeDocument/2006/relationships/image" Target="../media/image1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image" Target="../media/image3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84;p13" descr="Google Shape;84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16" name="Google Shape;85;p13"/>
          <p:cNvSpPr txBox="1"/>
          <p:nvPr/>
        </p:nvSpPr>
        <p:spPr>
          <a:xfrm>
            <a:off x="1950480" y="1745157"/>
            <a:ext cx="8291102" cy="1733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0000"/>
              </a:lnSpc>
              <a:defRPr b="1" sz="5400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defRPr>
            </a:pPr>
            <a:r>
              <a:t>Concurrent Union-Find</a:t>
            </a:r>
            <a:br/>
            <a:r>
              <a:t> in OCaml 5</a:t>
            </a:r>
          </a:p>
        </p:txBody>
      </p:sp>
      <p:sp>
        <p:nvSpPr>
          <p:cNvPr id="117" name="Google Shape;86;p13"/>
          <p:cNvSpPr txBox="1"/>
          <p:nvPr/>
        </p:nvSpPr>
        <p:spPr>
          <a:xfrm>
            <a:off x="2147886" y="3444180"/>
            <a:ext cx="789630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40000"/>
              </a:lnSpc>
              <a:defRPr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Research Mini-Project Implementation using CAS Atomics</a:t>
            </a:r>
          </a:p>
        </p:txBody>
      </p:sp>
      <p:sp>
        <p:nvSpPr>
          <p:cNvPr id="118" name="Google Shape;87;p13"/>
          <p:cNvSpPr txBox="1"/>
          <p:nvPr/>
        </p:nvSpPr>
        <p:spPr>
          <a:xfrm>
            <a:off x="2147886" y="4293691"/>
            <a:ext cx="78963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40000"/>
              </a:lnSpc>
              <a:defRPr sz="15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Yaswanth Srinivas | Prince | Mukhesh RM</a:t>
            </a:r>
          </a:p>
        </p:txBody>
      </p:sp>
      <p:sp>
        <p:nvSpPr>
          <p:cNvPr id="119" name="Google Shape;88;p13"/>
          <p:cNvSpPr txBox="1"/>
          <p:nvPr/>
        </p:nvSpPr>
        <p:spPr>
          <a:xfrm>
            <a:off x="2147886" y="4703266"/>
            <a:ext cx="78963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40000"/>
              </a:lnSpc>
              <a:defRPr sz="15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April 30,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93;p14" descr="Google Shape;93;p1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2" name="Google Shape;94;p14"/>
          <p:cNvSpPr txBox="1"/>
          <p:nvPr/>
        </p:nvSpPr>
        <p:spPr>
          <a:xfrm>
            <a:off x="952500" y="3119436"/>
            <a:ext cx="10668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Parallel Connectivity:</a:t>
            </a:r>
            <a:r>
              <a:rPr b="0"/>
              <a:t> Implement lock-free Disjoint Set Union (DSU) leveraging OCaml 5 Multicore features.</a:t>
            </a:r>
          </a:p>
        </p:txBody>
      </p:sp>
      <p:sp>
        <p:nvSpPr>
          <p:cNvPr id="123" name="Google Shape;95;p14"/>
          <p:cNvSpPr txBox="1"/>
          <p:nvPr/>
        </p:nvSpPr>
        <p:spPr>
          <a:xfrm>
            <a:off x="952500" y="3529012"/>
            <a:ext cx="10668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Performance Comparison:</a:t>
            </a:r>
            <a:r>
              <a:rPr b="0"/>
              <a:t> Evaluate CAS-based (Compare-and-Set) vs. Lock-based (Mutex) synchronization.</a:t>
            </a:r>
          </a:p>
        </p:txBody>
      </p:sp>
      <p:sp>
        <p:nvSpPr>
          <p:cNvPr id="124" name="Google Shape;96;p14"/>
          <p:cNvSpPr txBox="1"/>
          <p:nvPr/>
        </p:nvSpPr>
        <p:spPr>
          <a:xfrm>
            <a:off x="952500" y="3938587"/>
            <a:ext cx="10668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Workload Analysis:</a:t>
            </a:r>
            <a:r>
              <a:rPr b="0"/>
              <a:t> Investigate speedup across different graph densities and interleaved operation mixes.</a:t>
            </a:r>
          </a:p>
        </p:txBody>
      </p:sp>
      <p:sp>
        <p:nvSpPr>
          <p:cNvPr id="125" name="Google Shape;97;p14"/>
          <p:cNvSpPr txBox="1"/>
          <p:nvPr/>
        </p:nvSpPr>
        <p:spPr>
          <a:xfrm>
            <a:off x="952500" y="4348162"/>
            <a:ext cx="10668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Correctness Validation:</a:t>
            </a:r>
            <a:r>
              <a:rPr b="0"/>
              <a:t> Use randomized stress tests and linearizability checks to ensure data integrity.</a:t>
            </a:r>
          </a:p>
        </p:txBody>
      </p:sp>
      <p:sp>
        <p:nvSpPr>
          <p:cNvPr id="126" name="Google Shape;98;p14"/>
          <p:cNvSpPr txBox="1"/>
          <p:nvPr/>
        </p:nvSpPr>
        <p:spPr>
          <a:xfrm>
            <a:off x="761999" y="571500"/>
            <a:ext cx="11401502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Project Objectives</a:t>
            </a:r>
          </a:p>
        </p:txBody>
      </p:sp>
      <p:sp>
        <p:nvSpPr>
          <p:cNvPr id="127" name="Google Shape;99;p14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8" name="Google Shape;100;p14" descr="Google Shape;100;p1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3119436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Google Shape;101;p14" descr="Google Shape;101;p1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3529012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Google Shape;102;p14" descr="Google Shape;102;p1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3938587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31" name="Google Shape;103;p14" descr="Google Shape;103;p1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4348162"/>
            <a:ext cx="171450" cy="2000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08;p15" descr="Google Shape;108;p1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4" name="Google Shape;109;p15"/>
          <p:cNvSpPr txBox="1"/>
          <p:nvPr/>
        </p:nvSpPr>
        <p:spPr>
          <a:xfrm>
            <a:off x="952500" y="3048000"/>
            <a:ext cx="10668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Sequential Baseline:</a:t>
            </a:r>
            <a:r>
              <a:rPr b="0"/>
              <a:t> Fast, relies on mutating parent pointers (path compression) and union-by-rank.</a:t>
            </a:r>
          </a:p>
        </p:txBody>
      </p:sp>
      <p:sp>
        <p:nvSpPr>
          <p:cNvPr id="135" name="Google Shape;110;p15"/>
          <p:cNvSpPr txBox="1"/>
          <p:nvPr/>
        </p:nvSpPr>
        <p:spPr>
          <a:xfrm>
            <a:off x="952500" y="3457575"/>
            <a:ext cx="106680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The Race Condition:</a:t>
            </a:r>
            <a:r>
              <a:rPr b="0"/>
              <a:t> In a concurrent setting, if multiple domains mutate parent arrays simultaneously during find or union, components can become disconnected or form cycles.</a:t>
            </a:r>
          </a:p>
        </p:txBody>
      </p:sp>
      <p:sp>
        <p:nvSpPr>
          <p:cNvPr id="136" name="Google Shape;111;p15"/>
          <p:cNvSpPr txBox="1"/>
          <p:nvPr/>
        </p:nvSpPr>
        <p:spPr>
          <a:xfrm>
            <a:off x="952500" y="4152900"/>
            <a:ext cx="106680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Our Approach:</a:t>
            </a:r>
            <a:r>
              <a:rPr b="0"/>
              <a:t> Implement and evaluate 4 variants: Sequential, Global Mutex, Node-Lock, and Lock-Free CAS (Compare-and-Set).</a:t>
            </a:r>
          </a:p>
        </p:txBody>
      </p:sp>
      <p:sp>
        <p:nvSpPr>
          <p:cNvPr id="137" name="Google Shape;112;p15"/>
          <p:cNvSpPr txBox="1"/>
          <p:nvPr/>
        </p:nvSpPr>
        <p:spPr>
          <a:xfrm>
            <a:off x="762000" y="571500"/>
            <a:ext cx="11401425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The Concurrency Challenge in DSU</a:t>
            </a:r>
          </a:p>
        </p:txBody>
      </p:sp>
      <p:sp>
        <p:nvSpPr>
          <p:cNvPr id="138" name="Google Shape;113;p1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39" name="Google Shape;114;p15" descr="Google Shape;114;p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3048000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40" name="Google Shape;115;p15" descr="Google Shape;115;p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3457575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41" name="Google Shape;116;p15" descr="Google Shape;116;p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4152900"/>
            <a:ext cx="171450" cy="2000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21;p16" descr="Google Shape;121;p1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144" name="Google Shape;122;p16"/>
          <p:cNvGraphicFramePr/>
          <p:nvPr/>
        </p:nvGraphicFramePr>
        <p:xfrm>
          <a:off x="571500" y="2466975"/>
          <a:ext cx="11049025" cy="280037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626075"/>
                <a:gridCol w="3122425"/>
                <a:gridCol w="1921525"/>
                <a:gridCol w="3379000"/>
              </a:tblGrid>
              <a:tr h="560075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Variant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Synchronisation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Blocking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Path Compression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05088"/>
                    </a:solidFill>
                  </a:tcPr>
                </a:tc>
              </a:tr>
              <a:tr h="56007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Sequential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None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N/A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Full Two-Pass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</a:tr>
              <a:tr h="56007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Mutex (Global)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 Global Lock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Yes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Path Splitting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</a:tr>
              <a:tr h="56007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Node-Lock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Lock-per-Node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Yes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Path Splitting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</a:tr>
              <a:tr h="56007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CAS (Atomic)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Atomic CAS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500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Path Splitting</a:t>
                      </a:r>
                    </a:p>
                  </a:txBody>
                  <a:tcPr marL="25400" marR="25400" marT="25400" marB="25400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5" name="Google Shape;123;p16"/>
          <p:cNvSpPr/>
          <p:nvPr/>
        </p:nvSpPr>
        <p:spPr>
          <a:xfrm>
            <a:off x="571500" y="3565562"/>
            <a:ext cx="2626200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Google Shape;124;p16"/>
          <p:cNvSpPr/>
          <p:nvPr/>
        </p:nvSpPr>
        <p:spPr>
          <a:xfrm>
            <a:off x="3197572" y="3565562"/>
            <a:ext cx="31224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Google Shape;125;p16"/>
          <p:cNvSpPr/>
          <p:nvPr/>
        </p:nvSpPr>
        <p:spPr>
          <a:xfrm>
            <a:off x="6319985" y="3565562"/>
            <a:ext cx="19215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Google Shape;126;p16"/>
          <p:cNvSpPr/>
          <p:nvPr/>
        </p:nvSpPr>
        <p:spPr>
          <a:xfrm>
            <a:off x="8241506" y="3565562"/>
            <a:ext cx="33789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Google Shape;127;p16"/>
          <p:cNvSpPr/>
          <p:nvPr/>
        </p:nvSpPr>
        <p:spPr>
          <a:xfrm>
            <a:off x="571500" y="4127537"/>
            <a:ext cx="2626200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Google Shape;128;p16"/>
          <p:cNvSpPr/>
          <p:nvPr/>
        </p:nvSpPr>
        <p:spPr>
          <a:xfrm>
            <a:off x="3197572" y="4127537"/>
            <a:ext cx="31224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Google Shape;129;p16"/>
          <p:cNvSpPr/>
          <p:nvPr/>
        </p:nvSpPr>
        <p:spPr>
          <a:xfrm>
            <a:off x="6319985" y="4127537"/>
            <a:ext cx="19215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" name="Google Shape;130;p16"/>
          <p:cNvSpPr/>
          <p:nvPr/>
        </p:nvSpPr>
        <p:spPr>
          <a:xfrm>
            <a:off x="8241506" y="4127537"/>
            <a:ext cx="33789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" name="Google Shape;131;p16"/>
          <p:cNvSpPr/>
          <p:nvPr/>
        </p:nvSpPr>
        <p:spPr>
          <a:xfrm>
            <a:off x="571500" y="4689512"/>
            <a:ext cx="2626200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" name="Google Shape;132;p16"/>
          <p:cNvSpPr/>
          <p:nvPr/>
        </p:nvSpPr>
        <p:spPr>
          <a:xfrm>
            <a:off x="3197572" y="4689512"/>
            <a:ext cx="31224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Google Shape;133;p16"/>
          <p:cNvSpPr/>
          <p:nvPr/>
        </p:nvSpPr>
        <p:spPr>
          <a:xfrm>
            <a:off x="6319985" y="4689512"/>
            <a:ext cx="19215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Google Shape;134;p16"/>
          <p:cNvSpPr/>
          <p:nvPr/>
        </p:nvSpPr>
        <p:spPr>
          <a:xfrm>
            <a:off x="8241506" y="4689512"/>
            <a:ext cx="33789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Google Shape;135;p16"/>
          <p:cNvSpPr/>
          <p:nvPr/>
        </p:nvSpPr>
        <p:spPr>
          <a:xfrm>
            <a:off x="571500" y="5251487"/>
            <a:ext cx="2626200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Google Shape;136;p16"/>
          <p:cNvSpPr/>
          <p:nvPr/>
        </p:nvSpPr>
        <p:spPr>
          <a:xfrm>
            <a:off x="3197572" y="5251487"/>
            <a:ext cx="31224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" name="Google Shape;137;p16"/>
          <p:cNvSpPr/>
          <p:nvPr/>
        </p:nvSpPr>
        <p:spPr>
          <a:xfrm>
            <a:off x="6319985" y="5251487"/>
            <a:ext cx="19215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0" name="Google Shape;138;p16"/>
          <p:cNvSpPr/>
          <p:nvPr/>
        </p:nvSpPr>
        <p:spPr>
          <a:xfrm>
            <a:off x="8241506" y="5251487"/>
            <a:ext cx="3378901" cy="12701"/>
          </a:xfrm>
          <a:prstGeom prst="rect">
            <a:avLst/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" name="Google Shape;139;p16"/>
          <p:cNvSpPr txBox="1"/>
          <p:nvPr/>
        </p:nvSpPr>
        <p:spPr>
          <a:xfrm>
            <a:off x="761999" y="571500"/>
            <a:ext cx="11401502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DSU Implementation Variants</a:t>
            </a:r>
          </a:p>
        </p:txBody>
      </p:sp>
      <p:sp>
        <p:nvSpPr>
          <p:cNvPr id="162" name="Google Shape;140;p16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45;p17" descr="Google Shape;145;p1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65" name="Google Shape;146;p17"/>
          <p:cNvSpPr txBox="1"/>
          <p:nvPr/>
        </p:nvSpPr>
        <p:spPr>
          <a:xfrm>
            <a:off x="571499" y="2747462"/>
            <a:ext cx="448050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Single Lock Mechanism</a:t>
            </a:r>
          </a:p>
        </p:txBody>
      </p:sp>
      <p:sp>
        <p:nvSpPr>
          <p:cNvPr id="166" name="Google Shape;147;p17"/>
          <p:cNvSpPr txBox="1"/>
          <p:nvPr/>
        </p:nvSpPr>
        <p:spPr>
          <a:xfrm>
            <a:off x="571500" y="3038474"/>
            <a:ext cx="4267200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The simplest concurrent approach: wrap every operation in a global mutex. This serializes all work.</a:t>
            </a:r>
          </a:p>
        </p:txBody>
      </p:sp>
      <p:sp>
        <p:nvSpPr>
          <p:cNvPr id="167" name="Google Shape;148;p17"/>
          <p:cNvSpPr txBox="1"/>
          <p:nvPr/>
        </p:nvSpPr>
        <p:spPr>
          <a:xfrm>
            <a:off x="952500" y="3990975"/>
            <a:ext cx="388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Ensures atomicity for the entire traversal.</a:t>
            </a:r>
          </a:p>
        </p:txBody>
      </p:sp>
      <p:sp>
        <p:nvSpPr>
          <p:cNvPr id="168" name="Google Shape;149;p17"/>
          <p:cNvSpPr txBox="1"/>
          <p:nvPr/>
        </p:nvSpPr>
        <p:spPr>
          <a:xfrm>
            <a:off x="952500" y="5131087"/>
            <a:ext cx="388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High contention: No parallelism.</a:t>
            </a:r>
          </a:p>
        </p:txBody>
      </p:sp>
      <p:sp>
        <p:nvSpPr>
          <p:cNvPr id="169" name="Google Shape;150;p17"/>
          <p:cNvSpPr txBox="1"/>
          <p:nvPr/>
        </p:nvSpPr>
        <p:spPr>
          <a:xfrm>
            <a:off x="761999" y="571499"/>
            <a:ext cx="11401502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Variant 1: Global Mutex</a:t>
            </a:r>
          </a:p>
        </p:txBody>
      </p:sp>
      <p:sp>
        <p:nvSpPr>
          <p:cNvPr id="170" name="Google Shape;151;p17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71" name="Google Shape;152;p17" descr="Google Shape;152;p1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3990975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Google Shape;153;p17" descr="Google Shape;153;p1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4431262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Google Shape;154;p17" descr="Google Shape;154;p1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5146575"/>
            <a:ext cx="171450" cy="200026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Google Shape;155;p17"/>
          <p:cNvSpPr txBox="1"/>
          <p:nvPr/>
        </p:nvSpPr>
        <p:spPr>
          <a:xfrm>
            <a:off x="952500" y="4408158"/>
            <a:ext cx="476250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with_lock uses Fun.protect to ensure the mutex</a:t>
            </a:r>
          </a:p>
          <a:p>
            <a: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is unlocked even on failure</a:t>
            </a:r>
          </a:p>
        </p:txBody>
      </p:sp>
      <p:pic>
        <p:nvPicPr>
          <p:cNvPr id="175" name="mutex_union_find-1.pngGoogle Shape;156;p17" descr="mutex_union_find-1.pngGoogle Shape;156;p17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827950" y="3361052"/>
            <a:ext cx="5422949" cy="7918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61;p18" descr="Google Shape;161;p1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78" name="Google Shape;162;p18"/>
          <p:cNvSpPr txBox="1"/>
          <p:nvPr/>
        </p:nvSpPr>
        <p:spPr>
          <a:xfrm>
            <a:off x="761999" y="571500"/>
            <a:ext cx="11401502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Variant 1: Global Mutex (Find &amp; Union)</a:t>
            </a:r>
          </a:p>
        </p:txBody>
      </p:sp>
      <p:sp>
        <p:nvSpPr>
          <p:cNvPr id="179" name="Google Shape;163;p18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80" name="mutex_union_find-2.pngGoogle Shape;164;p18" descr="mutex_union_find-2.pngGoogle Shape;164;p1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20899" y="2421925"/>
            <a:ext cx="5155700" cy="310155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mutex_union_find-3.pngGoogle Shape;165;p18" descr="mutex_union_find-3.pngGoogle Shape;165;p1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388449" y="2040775"/>
            <a:ext cx="5330652" cy="406347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70;p19" descr="Google Shape;170;p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4" name="Google Shape;171;p19"/>
          <p:cNvSpPr txBox="1"/>
          <p:nvPr/>
        </p:nvSpPr>
        <p:spPr>
          <a:xfrm>
            <a:off x="571499" y="2728136"/>
            <a:ext cx="448050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Fine-Grained Strategy</a:t>
            </a:r>
          </a:p>
        </p:txBody>
      </p:sp>
      <p:sp>
        <p:nvSpPr>
          <p:cNvPr id="185" name="Google Shape;172;p19"/>
          <p:cNvSpPr txBox="1"/>
          <p:nvPr/>
        </p:nvSpPr>
        <p:spPr>
          <a:xfrm>
            <a:off x="571500" y="3033711"/>
            <a:ext cx="426720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Instead of one lock, we have an array of locks, one for each node.</a:t>
            </a:r>
          </a:p>
        </p:txBody>
      </p:sp>
      <p:sp>
        <p:nvSpPr>
          <p:cNvPr id="186" name="Google Shape;173;p19"/>
          <p:cNvSpPr txBox="1"/>
          <p:nvPr/>
        </p:nvSpPr>
        <p:spPr>
          <a:xfrm>
            <a:off x="952500" y="3729037"/>
            <a:ext cx="388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Permits parallelism for disjoint components.</a:t>
            </a:r>
          </a:p>
        </p:txBody>
      </p:sp>
      <p:sp>
        <p:nvSpPr>
          <p:cNvPr id="187" name="Google Shape;174;p19"/>
          <p:cNvSpPr txBox="1"/>
          <p:nvPr/>
        </p:nvSpPr>
        <p:spPr>
          <a:xfrm>
            <a:off x="952499" y="4093936"/>
            <a:ext cx="388620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High overhead: Multiple lock acquisitions per operation.</a:t>
            </a:r>
          </a:p>
        </p:txBody>
      </p:sp>
      <p:sp>
        <p:nvSpPr>
          <p:cNvPr id="188" name="Google Shape;175;p19"/>
          <p:cNvSpPr txBox="1"/>
          <p:nvPr/>
        </p:nvSpPr>
        <p:spPr>
          <a:xfrm>
            <a:off x="761999" y="571500"/>
            <a:ext cx="11401502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Variant 2: Node-Lock (Find)</a:t>
            </a:r>
          </a:p>
        </p:txBody>
      </p:sp>
      <p:sp>
        <p:nvSpPr>
          <p:cNvPr id="189" name="Google Shape;176;p19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90" name="Google Shape;177;p19" descr="Google Shape;177;p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3729037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" name="node_lock_union_find-1.pngGoogle Shape;179;p19" descr="node_lock_union_find-1.pngGoogle Shape;179;p1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424625" y="2191199"/>
            <a:ext cx="5963801" cy="3306652"/>
          </a:xfrm>
          <a:prstGeom prst="rect">
            <a:avLst/>
          </a:prstGeom>
          <a:ln w="12700">
            <a:miter lim="400000"/>
          </a:ln>
        </p:spPr>
      </p:pic>
      <p:pic>
        <p:nvPicPr>
          <p:cNvPr id="192" name="Google Shape;180;p19" descr="Google Shape;180;p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499" y="4093936"/>
            <a:ext cx="171451" cy="2000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86;p20" descr="Google Shape;186;p2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95" name="Google Shape;187;p20"/>
          <p:cNvSpPr txBox="1"/>
          <p:nvPr/>
        </p:nvSpPr>
        <p:spPr>
          <a:xfrm>
            <a:off x="7031000" y="2601324"/>
            <a:ext cx="54987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Lock ordering</a:t>
            </a:r>
          </a:p>
        </p:txBody>
      </p:sp>
      <p:sp>
        <p:nvSpPr>
          <p:cNvPr id="196" name="Google Shape;189;p20"/>
          <p:cNvSpPr txBox="1"/>
          <p:nvPr/>
        </p:nvSpPr>
        <p:spPr>
          <a:xfrm>
            <a:off x="761999" y="571500"/>
            <a:ext cx="11401502" cy="667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Variant 2: Node-Lock (Union)</a:t>
            </a:r>
          </a:p>
        </p:txBody>
      </p:sp>
      <p:sp>
        <p:nvSpPr>
          <p:cNvPr id="197" name="Google Shape;190;p20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" name="Google Shape;191;p20"/>
          <p:cNvSpPr txBox="1"/>
          <p:nvPr/>
        </p:nvSpPr>
        <p:spPr>
          <a:xfrm>
            <a:off x="7302799" y="2817324"/>
            <a:ext cx="4572001" cy="731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Problem: </a:t>
            </a:r>
            <a:r>
              <a:rPr b="0"/>
              <a:t>Cyclic dependencies between roots can cause deadlocks.</a:t>
            </a:r>
          </a:p>
        </p:txBody>
      </p:sp>
      <p:sp>
        <p:nvSpPr>
          <p:cNvPr id="199" name="Google Shape;192;p20"/>
          <p:cNvSpPr txBox="1"/>
          <p:nvPr/>
        </p:nvSpPr>
        <p:spPr>
          <a:xfrm>
            <a:off x="7302799" y="3464350"/>
            <a:ext cx="4572001" cy="731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lnSpc>
                <a:spcPct val="140000"/>
              </a:lnSpc>
              <a:defRPr b="1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Solution: </a:t>
            </a:r>
            <a:r>
              <a:rPr b="0"/>
              <a:t>To prevent it, we sort the roots and lock the smaller index first.</a:t>
            </a:r>
          </a:p>
        </p:txBody>
      </p:sp>
      <p:pic>
        <p:nvPicPr>
          <p:cNvPr id="200" name="Google Shape;193;p20" descr="Google Shape;193;p2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31000" y="2940886"/>
            <a:ext cx="17145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01" name="Google Shape;194;p20" descr="Google Shape;194;p2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31000" y="3556236"/>
            <a:ext cx="17145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02" name="node_lock_union_find-2.pngGoogle Shape;195;p20" descr="node_lock_union_find-2.pngGoogle Shape;195;p2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7700" y="1234224"/>
            <a:ext cx="6247375" cy="54467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0;p21" descr="Google Shape;200;p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Google Shape;201;p21"/>
          <p:cNvSpPr txBox="1"/>
          <p:nvPr/>
        </p:nvSpPr>
        <p:spPr>
          <a:xfrm>
            <a:off x="571499" y="2952350"/>
            <a:ext cx="448050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Lock-free implementation</a:t>
            </a:r>
          </a:p>
        </p:txBody>
      </p:sp>
      <p:sp>
        <p:nvSpPr>
          <p:cNvPr id="206" name="Google Shape;202;p21"/>
          <p:cNvSpPr txBox="1"/>
          <p:nvPr/>
        </p:nvSpPr>
        <p:spPr>
          <a:xfrm>
            <a:off x="571500" y="3238500"/>
            <a:ext cx="42672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Uses Atomic.compare_and_set to perform single-pass path compression without blocking.</a:t>
            </a:r>
          </a:p>
        </p:txBody>
      </p:sp>
      <p:sp>
        <p:nvSpPr>
          <p:cNvPr id="207" name="Google Shape;203;p21"/>
          <p:cNvSpPr txBox="1"/>
          <p:nvPr/>
        </p:nvSpPr>
        <p:spPr>
          <a:xfrm>
            <a:off x="952500" y="3933824"/>
            <a:ext cx="388620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Failed CAS means another thread updated the parent; we continue traversal regardless.</a:t>
            </a:r>
          </a:p>
        </p:txBody>
      </p:sp>
      <p:sp>
        <p:nvSpPr>
          <p:cNvPr id="208" name="Google Shape;204;p21"/>
          <p:cNvSpPr txBox="1"/>
          <p:nvPr/>
        </p:nvSpPr>
        <p:spPr>
          <a:xfrm>
            <a:off x="761999" y="571499"/>
            <a:ext cx="11401502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Variant 3: CAS (Find)</a:t>
            </a:r>
          </a:p>
        </p:txBody>
      </p:sp>
      <p:sp>
        <p:nvSpPr>
          <p:cNvPr id="209" name="Google Shape;205;p21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10" name="Google Shape;206;p21" descr="Google Shape;206;p2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3933825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211" name="cas_union_find-1.pngGoogle Shape;207;p21" descr="cas_union_find-1.pngGoogle Shape;207;p2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9700" y="1945250"/>
            <a:ext cx="6400799" cy="3836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2;p22" descr="Google Shape;212;p2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4" name="Google Shape;213;p22"/>
          <p:cNvSpPr txBox="1"/>
          <p:nvPr/>
        </p:nvSpPr>
        <p:spPr>
          <a:xfrm>
            <a:off x="7031000" y="2601324"/>
            <a:ext cx="54987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Optimistic Retry</a:t>
            </a:r>
          </a:p>
        </p:txBody>
      </p:sp>
      <p:sp>
        <p:nvSpPr>
          <p:cNvPr id="215" name="Google Shape;215;p22"/>
          <p:cNvSpPr txBox="1"/>
          <p:nvPr/>
        </p:nvSpPr>
        <p:spPr>
          <a:xfrm>
            <a:off x="761999" y="571500"/>
            <a:ext cx="11401502" cy="667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Variant 3: CAS (Union)</a:t>
            </a:r>
          </a:p>
        </p:txBody>
      </p:sp>
      <p:sp>
        <p:nvSpPr>
          <p:cNvPr id="216" name="Google Shape;216;p22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" name="Google Shape;217;p22"/>
          <p:cNvSpPr txBox="1"/>
          <p:nvPr/>
        </p:nvSpPr>
        <p:spPr>
          <a:xfrm>
            <a:off x="7302799" y="2817324"/>
            <a:ext cx="4572001" cy="731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No blocking; failed CAS triggers a recursive attempt ().</a:t>
            </a:r>
          </a:p>
        </p:txBody>
      </p:sp>
      <p:sp>
        <p:nvSpPr>
          <p:cNvPr id="218" name="Google Shape;218;p22"/>
          <p:cNvSpPr txBox="1"/>
          <p:nvPr/>
        </p:nvSpPr>
        <p:spPr>
          <a:xfrm>
            <a:off x="7302799" y="3464350"/>
            <a:ext cx="4572001" cy="731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The successful linkage CAS is the linearization point.</a:t>
            </a:r>
          </a:p>
        </p:txBody>
      </p:sp>
      <p:pic>
        <p:nvPicPr>
          <p:cNvPr id="219" name="Google Shape;219;p22" descr="Google Shape;219;p2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31000" y="2940886"/>
            <a:ext cx="17145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0" name="Google Shape;220;p22" descr="Google Shape;220;p2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31000" y="3556236"/>
            <a:ext cx="17145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1" name="cas_union_find-2.pngGoogle Shape;221;p22" descr="cas_union_find-2.pngGoogle Shape;221;p2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1500" y="1261049"/>
            <a:ext cx="6283824" cy="53259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6;p23" descr="Google Shape;226;p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" name="Google Shape;227;p23" descr="Google Shape;227;p2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1438275"/>
            <a:ext cx="11049000" cy="4762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Google Shape;228;p23"/>
          <p:cNvSpPr txBox="1"/>
          <p:nvPr/>
        </p:nvSpPr>
        <p:spPr>
          <a:xfrm>
            <a:off x="571500" y="2451361"/>
            <a:ext cx="56007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Performance at low contention</a:t>
            </a:r>
          </a:p>
        </p:txBody>
      </p:sp>
      <p:sp>
        <p:nvSpPr>
          <p:cNvPr id="226" name="Google Shape;229;p23"/>
          <p:cNvSpPr txBox="1"/>
          <p:nvPr/>
        </p:nvSpPr>
        <p:spPr>
          <a:xfrm>
            <a:off x="571500" y="2700336"/>
            <a:ext cx="533400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Benchmarking over 200k nodes and 1M interleaved operations.</a:t>
            </a:r>
          </a:p>
        </p:txBody>
      </p:sp>
      <p:sp>
        <p:nvSpPr>
          <p:cNvPr id="227" name="Google Shape;230;p23"/>
          <p:cNvSpPr txBox="1"/>
          <p:nvPr/>
        </p:nvSpPr>
        <p:spPr>
          <a:xfrm>
            <a:off x="952500" y="3386137"/>
            <a:ext cx="495300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CAS achieves a </a:t>
            </a:r>
            <a:r>
              <a:rPr b="1"/>
              <a:t>1.22x speedup</a:t>
            </a:r>
            <a:r>
              <a:t> over sequential execution.</a:t>
            </a:r>
          </a:p>
        </p:txBody>
      </p:sp>
      <p:sp>
        <p:nvSpPr>
          <p:cNvPr id="228" name="Google Shape;231;p23"/>
          <p:cNvSpPr txBox="1"/>
          <p:nvPr/>
        </p:nvSpPr>
        <p:spPr>
          <a:xfrm>
            <a:off x="952500" y="4062412"/>
            <a:ext cx="4953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Peaks precisely at 4 OCaml domains.</a:t>
            </a:r>
          </a:p>
        </p:txBody>
      </p:sp>
      <p:sp>
        <p:nvSpPr>
          <p:cNvPr id="229" name="Google Shape;232;p23"/>
          <p:cNvSpPr txBox="1"/>
          <p:nvPr/>
        </p:nvSpPr>
        <p:spPr>
          <a:xfrm>
            <a:off x="952500" y="4471987"/>
            <a:ext cx="495300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Coarse mutex performs progressively worse as domains increase.</a:t>
            </a:r>
          </a:p>
        </p:txBody>
      </p:sp>
      <p:sp>
        <p:nvSpPr>
          <p:cNvPr id="230" name="Google Shape;233;p23"/>
          <p:cNvSpPr txBox="1"/>
          <p:nvPr/>
        </p:nvSpPr>
        <p:spPr>
          <a:xfrm>
            <a:off x="761999" y="571500"/>
            <a:ext cx="11401502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Results: 20% Union Mix Workload</a:t>
            </a:r>
          </a:p>
        </p:txBody>
      </p:sp>
      <p:sp>
        <p:nvSpPr>
          <p:cNvPr id="231" name="Google Shape;234;p23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32" name="Google Shape;235;p23" descr="Google Shape;235;p2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1500" y="3386137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33" name="Google Shape;236;p23" descr="Google Shape;236;p2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1500" y="4062412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34" name="Google Shape;237;p23" descr="Google Shape;237;p2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1500" y="4471987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35" name="bench_trend_20_time.pngGoogle Shape;238;p23" descr="bench_trend_20_time.pngGoogle Shape;238;p2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466249" y="2146474"/>
            <a:ext cx="5017402" cy="33270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43;p24" descr="Google Shape;243;p2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38" name="Google Shape;244;p24" descr="Google Shape;244;p2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1438275"/>
            <a:ext cx="11049000" cy="4762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Google Shape;245;p24"/>
          <p:cNvSpPr txBox="1"/>
          <p:nvPr/>
        </p:nvSpPr>
        <p:spPr>
          <a:xfrm>
            <a:off x="6286500" y="2765749"/>
            <a:ext cx="56007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Strong Scaling for Balanced Workloads</a:t>
            </a:r>
          </a:p>
        </p:txBody>
      </p:sp>
      <p:sp>
        <p:nvSpPr>
          <p:cNvPr id="240" name="Google Shape;246;p24"/>
          <p:cNvSpPr txBox="1"/>
          <p:nvPr/>
        </p:nvSpPr>
        <p:spPr>
          <a:xfrm>
            <a:off x="6286500" y="3038475"/>
            <a:ext cx="53340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Higher proportion of unions emphasizes the benefits of lock-free parallelism.</a:t>
            </a:r>
          </a:p>
        </p:txBody>
      </p:sp>
      <p:sp>
        <p:nvSpPr>
          <p:cNvPr id="241" name="Google Shape;247;p24"/>
          <p:cNvSpPr txBox="1"/>
          <p:nvPr/>
        </p:nvSpPr>
        <p:spPr>
          <a:xfrm>
            <a:off x="6667500" y="3724275"/>
            <a:ext cx="4953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CAS achieves a </a:t>
            </a:r>
            <a:r>
              <a:rPr b="1"/>
              <a:t>1.76x speedup</a:t>
            </a:r>
            <a:r>
              <a:t>.</a:t>
            </a:r>
          </a:p>
        </p:txBody>
      </p:sp>
      <p:sp>
        <p:nvSpPr>
          <p:cNvPr id="242" name="Google Shape;248;p24"/>
          <p:cNvSpPr txBox="1"/>
          <p:nvPr/>
        </p:nvSpPr>
        <p:spPr>
          <a:xfrm>
            <a:off x="6667500" y="4133850"/>
            <a:ext cx="49530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Node-lock shows scaling but suffers from high constant overhead.</a:t>
            </a:r>
          </a:p>
        </p:txBody>
      </p:sp>
      <p:sp>
        <p:nvSpPr>
          <p:cNvPr id="243" name="Google Shape;249;p24"/>
          <p:cNvSpPr txBox="1"/>
          <p:nvPr/>
        </p:nvSpPr>
        <p:spPr>
          <a:xfrm>
            <a:off x="761999" y="571500"/>
            <a:ext cx="11401502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Results: 50% Union Mix Workload</a:t>
            </a:r>
          </a:p>
        </p:txBody>
      </p:sp>
      <p:sp>
        <p:nvSpPr>
          <p:cNvPr id="244" name="Google Shape;250;p24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45" name="Google Shape;251;p24" descr="Google Shape;251;p2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86500" y="3724275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246" name="Google Shape;252;p24" descr="Google Shape;252;p2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86500" y="4133850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247" name="bench_trend_50_time.pngGoogle Shape;253;p24" descr="bench_trend_50_time.pngGoogle Shape;253;p2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62000" y="2177750"/>
            <a:ext cx="4953000" cy="32957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58;p25" descr="Google Shape;258;p2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0" name="Google Shape;259;p25" descr="Google Shape;259;p2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1438275"/>
            <a:ext cx="11049000" cy="4762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1" name="Google Shape;260;p25"/>
          <p:cNvSpPr txBox="1"/>
          <p:nvPr/>
        </p:nvSpPr>
        <p:spPr>
          <a:xfrm>
            <a:off x="571500" y="2492325"/>
            <a:ext cx="56007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Time vs Domains (CAS Only)</a:t>
            </a:r>
          </a:p>
        </p:txBody>
      </p:sp>
      <p:sp>
        <p:nvSpPr>
          <p:cNvPr id="252" name="Google Shape;261;p25"/>
          <p:cNvSpPr txBox="1"/>
          <p:nvPr/>
        </p:nvSpPr>
        <p:spPr>
          <a:xfrm>
            <a:off x="571500" y="2771775"/>
            <a:ext cx="53340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We tested CAS against 3 distinct graph structure profiles to identify structural bottlenecks.</a:t>
            </a:r>
          </a:p>
        </p:txBody>
      </p:sp>
      <p:sp>
        <p:nvSpPr>
          <p:cNvPr id="253" name="Google Shape;262;p25"/>
          <p:cNvSpPr txBox="1"/>
          <p:nvPr/>
        </p:nvSpPr>
        <p:spPr>
          <a:xfrm>
            <a:off x="952500" y="3457575"/>
            <a:ext cx="49530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Different topologies create varying levels of contention on root nodes.</a:t>
            </a:r>
          </a:p>
        </p:txBody>
      </p:sp>
      <p:sp>
        <p:nvSpPr>
          <p:cNvPr id="254" name="Google Shape;263;p25"/>
          <p:cNvSpPr txBox="1"/>
          <p:nvPr/>
        </p:nvSpPr>
        <p:spPr>
          <a:xfrm>
            <a:off x="952500" y="4133850"/>
            <a:ext cx="4953000" cy="8686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CAS failure rates remained below 0.1% across all profiles, indicating atomic memory traffic is the actual limiting factor.</a:t>
            </a:r>
          </a:p>
        </p:txBody>
      </p:sp>
      <p:sp>
        <p:nvSpPr>
          <p:cNvPr id="255" name="Google Shape;264;p25"/>
          <p:cNvSpPr txBox="1"/>
          <p:nvPr/>
        </p:nvSpPr>
        <p:spPr>
          <a:xfrm>
            <a:off x="761999" y="571500"/>
            <a:ext cx="11401502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Analysis: Graph Structure Sensitivity</a:t>
            </a:r>
          </a:p>
        </p:txBody>
      </p:sp>
      <p:sp>
        <p:nvSpPr>
          <p:cNvPr id="256" name="Google Shape;265;p2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57" name="Google Shape;266;p25" descr="Google Shape;266;p25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1500" y="3457575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8" name="Google Shape;267;p25" descr="Google Shape;267;p25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1500" y="4133850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9" name="bench_graph_time.pngGoogle Shape;268;p25" descr="bench_graph_time.pngGoogle Shape;268;p25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479675" y="2171700"/>
            <a:ext cx="4953001" cy="34490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73;p26" descr="Google Shape;273;p2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62" name="Google Shape;274;p26" descr="Google Shape;274;p2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1438275"/>
            <a:ext cx="11049000" cy="4762500"/>
          </a:xfrm>
          <a:prstGeom prst="rect">
            <a:avLst/>
          </a:prstGeom>
          <a:ln w="12700">
            <a:miter lim="400000"/>
          </a:ln>
        </p:spPr>
      </p:pic>
      <p:sp>
        <p:nvSpPr>
          <p:cNvPr id="263" name="Google Shape;275;p26"/>
          <p:cNvSpPr txBox="1"/>
          <p:nvPr/>
        </p:nvSpPr>
        <p:spPr>
          <a:xfrm>
            <a:off x="6286500" y="2752325"/>
            <a:ext cx="56007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Impact of Edge Density</a:t>
            </a:r>
          </a:p>
        </p:txBody>
      </p:sp>
      <p:sp>
        <p:nvSpPr>
          <p:cNvPr id="264" name="Google Shape;276;p26"/>
          <p:cNvSpPr txBox="1"/>
          <p:nvPr/>
        </p:nvSpPr>
        <p:spPr>
          <a:xfrm>
            <a:off x="6286500" y="3038475"/>
            <a:ext cx="53340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Testing 5 different connectivity profiles mapping dense vs sparse connections.</a:t>
            </a:r>
          </a:p>
        </p:txBody>
      </p:sp>
      <p:sp>
        <p:nvSpPr>
          <p:cNvPr id="265" name="Google Shape;277;p26"/>
          <p:cNvSpPr txBox="1"/>
          <p:nvPr/>
        </p:nvSpPr>
        <p:spPr>
          <a:xfrm>
            <a:off x="6667500" y="3724275"/>
            <a:ext cx="4953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Highly connected graphs require deeper path traversals.</a:t>
            </a:r>
          </a:p>
        </p:txBody>
      </p:sp>
      <p:sp>
        <p:nvSpPr>
          <p:cNvPr id="266" name="Google Shape;278;p26"/>
          <p:cNvSpPr txBox="1"/>
          <p:nvPr/>
        </p:nvSpPr>
        <p:spPr>
          <a:xfrm>
            <a:off x="6667500" y="4410075"/>
            <a:ext cx="4953000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Path halving ensures traversal times stay amortized even as graph density grows.</a:t>
            </a:r>
          </a:p>
        </p:txBody>
      </p:sp>
      <p:sp>
        <p:nvSpPr>
          <p:cNvPr id="267" name="Google Shape;279;p26"/>
          <p:cNvSpPr txBox="1"/>
          <p:nvPr/>
        </p:nvSpPr>
        <p:spPr>
          <a:xfrm>
            <a:off x="761999" y="571500"/>
            <a:ext cx="11401502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Analysis: Connectivity Profiles</a:t>
            </a:r>
          </a:p>
        </p:txBody>
      </p:sp>
      <p:sp>
        <p:nvSpPr>
          <p:cNvPr id="268" name="Google Shape;280;p26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9" name="Google Shape;281;p26" descr="Google Shape;281;p2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86500" y="3724275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270" name="Google Shape;282;p26" descr="Google Shape;282;p2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86500" y="4410075"/>
            <a:ext cx="171450" cy="200025"/>
          </a:xfrm>
          <a:prstGeom prst="rect">
            <a:avLst/>
          </a:prstGeom>
          <a:ln w="12700">
            <a:miter lim="400000"/>
          </a:ln>
        </p:spPr>
      </p:pic>
      <p:pic>
        <p:nvPicPr>
          <p:cNvPr id="271" name="bench_connectivity_time.pngGoogle Shape;283;p26" descr="bench_connectivity_time.pngGoogle Shape;283;p26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62000" y="2173300"/>
            <a:ext cx="4953000" cy="32868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50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88;p27" descr="Google Shape;288;p2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74" name="Google Shape;289;p27"/>
          <p:cNvSpPr txBox="1"/>
          <p:nvPr/>
        </p:nvSpPr>
        <p:spPr>
          <a:xfrm>
            <a:off x="295274" y="1264074"/>
            <a:ext cx="11601602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4800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Conclusions</a:t>
            </a:r>
          </a:p>
        </p:txBody>
      </p:sp>
      <p:sp>
        <p:nvSpPr>
          <p:cNvPr id="275" name="Google Shape;290;p27"/>
          <p:cNvSpPr/>
          <p:nvPr/>
        </p:nvSpPr>
        <p:spPr>
          <a:xfrm>
            <a:off x="5619750" y="4476750"/>
            <a:ext cx="952500" cy="38100"/>
          </a:xfrm>
          <a:prstGeom prst="rect">
            <a:avLst/>
          </a:prstGeom>
          <a:solidFill>
            <a:srgbClr val="11CAA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" name="Google Shape;291;p27"/>
          <p:cNvSpPr txBox="1"/>
          <p:nvPr/>
        </p:nvSpPr>
        <p:spPr>
          <a:xfrm>
            <a:off x="295274" y="4895850"/>
            <a:ext cx="11601602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3000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pPr/>
            <a:r>
              <a:t>Questions?</a:t>
            </a:r>
          </a:p>
        </p:txBody>
      </p:sp>
      <p:sp>
        <p:nvSpPr>
          <p:cNvPr id="277" name="Google Shape;292;p27"/>
          <p:cNvSpPr txBox="1"/>
          <p:nvPr/>
        </p:nvSpPr>
        <p:spPr>
          <a:xfrm>
            <a:off x="2667000" y="2311175"/>
            <a:ext cx="7239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Lock-free CAS outperforms lock-based alternatives on OCaml 5 for DSU.</a:t>
            </a:r>
          </a:p>
        </p:txBody>
      </p:sp>
      <p:sp>
        <p:nvSpPr>
          <p:cNvPr id="278" name="Google Shape;293;p27"/>
          <p:cNvSpPr txBox="1"/>
          <p:nvPr/>
        </p:nvSpPr>
        <p:spPr>
          <a:xfrm>
            <a:off x="2667000" y="2719388"/>
            <a:ext cx="723900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50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Performance bottleneck beyond 4 domains is </a:t>
            </a:r>
            <a:r>
              <a:rPr b="1"/>
              <a:t>atomic memory traffic</a:t>
            </a:r>
            <a:r>
              <a:t> and OS scheduling, not CAS retry storms.</a:t>
            </a:r>
          </a:p>
        </p:txBody>
      </p:sp>
      <p:sp>
        <p:nvSpPr>
          <p:cNvPr id="279" name="Google Shape;294;p27"/>
          <p:cNvSpPr txBox="1"/>
          <p:nvPr/>
        </p:nvSpPr>
        <p:spPr>
          <a:xfrm>
            <a:off x="2667000" y="3436375"/>
            <a:ext cx="7239000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 sz="150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The coarse global mutex completely eliminates scaling. The fine-grained per-node lock scales better relatively but suffers from heavy constant overhead, resulting in worse absolute times.</a:t>
            </a:r>
          </a:p>
        </p:txBody>
      </p:sp>
      <p:pic>
        <p:nvPicPr>
          <p:cNvPr id="280" name="Google Shape;295;p27" descr="Google Shape;295;p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286000" y="2326650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81" name="Google Shape;296;p27" descr="Google Shape;296;p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286000" y="2774000"/>
            <a:ext cx="171450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Google Shape;297;p27" descr="Google Shape;297;p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286000" y="3436375"/>
            <a:ext cx="171450" cy="2000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fast" advClick="1" p14:dur="400">
        <p:fade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